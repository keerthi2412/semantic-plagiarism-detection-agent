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594360"/>
            <a:ext cx="2148840" cy="347472"/>
          </a:xfrm>
          <a:prstGeom prst="round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2636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AI • NLP • SEMANTIC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6949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7FF"/>
                </a:solidFill>
                <a:latin typeface="Aptos"/>
              </a:rPr>
              <a:t>Semantic Plagiarism</a:t>
            </a:r>
            <a:br/>
            <a:r>
              <a:t>Detection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3E0E6"/>
                </a:solidFill>
                <a:latin typeface="Aptos"/>
              </a:rPr>
              <a:t>Detecting copied meaning, not just copied 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4787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B8D2"/>
                </a:solidFill>
                <a:latin typeface="Aptos"/>
              </a:rPr>
              <a:t>Web-based semantic similarity &amp; paraphrase detection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34440"/>
            <a:ext cx="3246120" cy="41605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8D2"/>
                </a:solidFill>
                <a:latin typeface="Aptos"/>
              </a:rPr>
              <a:t>Semantic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9385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57FF"/>
                </a:solidFill>
                <a:latin typeface="Aptos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8D2"/>
                </a:solidFill>
                <a:latin typeface="Aptos"/>
              </a:rPr>
              <a:t>Paraphrase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9008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3E0E6"/>
                </a:solidFill>
                <a:latin typeface="Aptos"/>
              </a:rPr>
              <a:t>Detected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49039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8D2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4164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D73"/>
                </a:solidFill>
                <a:latin typeface="Apto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97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8D2"/>
                </a:solidFill>
                <a:latin typeface="Aptos"/>
              </a:rPr>
              <a:t>Team / Name: ____________________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Why traditional plagiarism checks can miss paraphrased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43434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57800" cy="43434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874519"/>
            <a:ext cx="1325880" cy="347472"/>
          </a:xfrm>
          <a:prstGeom prst="roundRect">
            <a:avLst/>
          </a:prstGeom>
          <a:solidFill>
            <a:srgbClr val="FF5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065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TRADITIONAL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1691640" cy="347472"/>
          </a:xfrm>
          <a:prstGeom prst="round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06524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SEMANTIC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7FF"/>
                </a:solidFill>
                <a:latin typeface="Aptos"/>
              </a:rPr>
              <a:t>Exact word / phrase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EB8D2"/>
                </a:solidFill>
                <a:latin typeface="Aptos"/>
              </a:rPr>
              <a:t>Students can paraphrase, restructure sentences, or use AI tools to rewrite existing material.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“Artificial intelligence is transforming education.”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7FF"/>
                </a:solidFill>
                <a:latin typeface="Aptos"/>
              </a:rPr>
              <a:t>Different wording ≠ different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F"/>
                </a:solidFill>
                <a:latin typeface="Aptos"/>
              </a:rPr>
              <a:t>“AI is changing the educational system.”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EB8D2"/>
                </a:solidFill>
                <a:latin typeface="Aptos"/>
              </a:rPr>
              <a:t>Meaning is highly similar even though many words 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74920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E0E6"/>
                </a:solidFill>
                <a:latin typeface="Aptos"/>
              </a:rPr>
              <a:t>Our goal: detect similarity based on meaning.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A lightweight web application using pre-trained semantic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65960" cy="3337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574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432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3756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Submitted + reference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E57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828800"/>
            <a:ext cx="1965960" cy="3337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20574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7432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333756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Extract &amp; split text into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E57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1828800"/>
            <a:ext cx="1965960" cy="3337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0574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7432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33756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Convert sections into semantic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E57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1828800"/>
            <a:ext cx="1965960" cy="3337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527" y="20574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7432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333756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Calculate cosine similarity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E57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828800"/>
            <a:ext cx="1965960" cy="3337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0574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7432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33756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Show matches, score &amp;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3E0E6"/>
                </a:solidFill>
                <a:latin typeface="Aptos"/>
              </a:rPr>
              <a:t>Result: paraphrased sections can be flagged even without exact phrase overlap.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Minimum Requirements →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Every required capability is covered by the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Document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PDF • DOCX • 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0195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Semantic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487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Sentence Transformer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90195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Similarity 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87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Cosine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64592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190195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Paraphrase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1" y="2487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Meaning-based 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91363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Matching Sections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98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Section ↔ section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65760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91363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Similarity Percentage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498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Overall semantic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57600"/>
            <a:ext cx="2487168" cy="1572768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91363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Plagiarism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498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Risk +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End-to-end flow from upload to plagiarism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Submitted</a:t>
            </a:r>
            <a:br/>
            <a:r>
              <a:t>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6517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3E0E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Document</a:t>
            </a:r>
            <a:br/>
            <a: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6517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3E0E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Section</a:t>
            </a:r>
            <a:br/>
            <a:r>
              <a:t>Splitting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6517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3E0E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Semantic</a:t>
            </a:r>
            <a:br/>
            <a:r>
              <a:t>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6517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3E0E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Cosine</a:t>
            </a:r>
            <a:br/>
            <a:r>
              <a:t>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6517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3E0E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148840"/>
            <a:ext cx="1417320" cy="14173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258775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Plagiarism</a:t>
            </a:r>
            <a:br/>
            <a: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57FF"/>
                </a:solidFill>
                <a:latin typeface="Aptos"/>
              </a:rPr>
              <a:t>Reference Document(s)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297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B8D2"/>
                </a:solidFill>
                <a:latin typeface="Aptos"/>
              </a:rPr>
              <a:t>───────────────→ comparison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577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3E0E6"/>
                </a:solidFill>
                <a:latin typeface="Aptos"/>
              </a:rPr>
              <a:t>Backend: Flask  •  ML/NLP: Sentence Transformers  •  Similarity: 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How Semantic Detection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The core ML/NLP idea in one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4983480" cy="4480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1600200"/>
            <a:ext cx="5440680" cy="448056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F"/>
                </a:solidFill>
                <a:latin typeface="Aptos"/>
              </a:rPr>
              <a:t>1. Convert text into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3E0E6"/>
                </a:solidFill>
                <a:latin typeface="Aptos"/>
              </a:rPr>
              <a:t>“AI is changing education.”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E57FF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F"/>
                </a:solidFill>
                <a:latin typeface="Aptos"/>
              </a:rPr>
              <a:t>[ 0.21, -0.14, 0.83, 0.42, …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EB8D2"/>
                </a:solidFill>
                <a:latin typeface="Aptos"/>
              </a:rPr>
              <a:t>Vector captures semantic meaning.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019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F"/>
                </a:solidFill>
                <a:latin typeface="Aptos"/>
              </a:rPr>
              <a:t>2. Compare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3E0E6"/>
                </a:solidFill>
                <a:latin typeface="Aptos"/>
              </a:rPr>
              <a:t>Cosine 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3832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E57FF"/>
                </a:solidFill>
                <a:latin typeface="Aptos"/>
              </a:rPr>
              <a:t>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519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≈ 91% semantic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EB8D2"/>
                </a:solidFill>
                <a:latin typeface="Aptos"/>
              </a:rPr>
              <a:t>High similarity → possible paraphrase / copied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Fast to build, easy to explain, strong enough for the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47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96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Python • Flask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9164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947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4963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Sentence Transformers</a:t>
            </a:r>
            <a:br/>
            <a:r>
              <a:t>all-MiniLM-L6-v2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50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9943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Scikit-learn</a:t>
            </a:r>
            <a:br/>
            <a:r>
              <a:t>Cosine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79476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50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59943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PyPDF • python-docx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794760"/>
            <a:ext cx="3246120" cy="16002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4050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E0E6"/>
                </a:solidFill>
                <a:latin typeface="Aptos"/>
              </a:rPr>
              <a:t>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459943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PDF • DOCX • 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9893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E57FF"/>
                </a:solidFill>
                <a:latin typeface="Aptos"/>
              </a:rPr>
              <a:t>No model training required → ideal for a 2-hour prototype.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Paraphrase Detection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Different words. Similar meaning. Detectable semantically.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66360" cy="30175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301752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938528"/>
            <a:ext cx="1051560" cy="347472"/>
          </a:xfrm>
          <a:prstGeom prst="roundRect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7053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938528"/>
            <a:ext cx="1115568" cy="347472"/>
          </a:xfrm>
          <a:prstGeom prst="round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70532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SUBMITTED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51760"/>
            <a:ext cx="4526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Artificial intelligence is transforming education by providing personalized learning experiences.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4526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F"/>
                </a:solidFill>
                <a:latin typeface="Aptos"/>
              </a:rPr>
              <a:t>AI is changing education by giving learners customized learning experiences.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0749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EB8D2"/>
                </a:solidFill>
                <a:latin typeface="Aptos"/>
              </a:rPr>
              <a:t>SEMANTIC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440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3E0E6"/>
                </a:solidFill>
                <a:latin typeface="Aptos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Plagiarism Report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What the user sees after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972800" cy="452628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74519"/>
            <a:ext cx="2331720" cy="11430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75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EB8D2"/>
                </a:solidFill>
                <a:latin typeface="Aptos"/>
              </a:rPr>
              <a:t>Semantic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7E57FF"/>
                </a:solidFill>
                <a:latin typeface="Aptos"/>
              </a:rPr>
              <a:t>84.6%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0168" y="1874519"/>
            <a:ext cx="2331720" cy="11430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075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EB8D2"/>
                </a:solidFill>
                <a:latin typeface="Aptos"/>
              </a:rPr>
              <a:t>Risk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450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5D73"/>
                </a:solidFill>
                <a:latin typeface="Aptos"/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874519"/>
            <a:ext cx="2331720" cy="11430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75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EB8D2"/>
                </a:solidFill>
                <a:latin typeface="Aptos"/>
              </a:rPr>
              <a:t>Submitted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50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43E0E6"/>
                </a:solidFill>
                <a:latin typeface="Aptos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874519"/>
            <a:ext cx="2331720" cy="114300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2075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EB8D2"/>
                </a:solidFill>
                <a:latin typeface="Aptos"/>
              </a:rPr>
              <a:t>Matching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450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45D691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Matching Sections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Submitted 1 ↔ Reference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3E0E6"/>
                </a:solidFill>
                <a:latin typeface="Aptos"/>
              </a:rPr>
              <a:t>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074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Submitted 2 ↔ Reference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3E0E6"/>
                </a:solidFill>
                <a:latin typeface="Aptos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9743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Submitted 3 ↔ Reference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974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3E0E6"/>
                </a:solidFill>
                <a:latin typeface="Aptos"/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62179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EB8D2"/>
                </a:solidFill>
                <a:latin typeface="Aptos"/>
              </a:rPr>
              <a:t>Use your real website screenshot here before presenting.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73152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46320"/>
            <a:ext cx="2926080" cy="2926080"/>
          </a:xfrm>
          <a:prstGeom prst="ellipse">
            <a:avLst/>
          </a:prstGeom>
          <a:solidFill>
            <a:srgbClr val="37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1828800" cy="1828800"/>
          </a:xfrm>
          <a:prstGeom prst="ellipse">
            <a:avLst/>
          </a:prstGeom>
          <a:solidFill>
            <a:srgbClr val="43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8D2"/>
                </a:solidFill>
                <a:latin typeface="Aptos"/>
              </a:rPr>
              <a:t>A strong MVP with clear paths to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532120" cy="443484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600200"/>
            <a:ext cx="4983480" cy="4434840"/>
          </a:xfrm>
          <a:prstGeom prst="roundRect">
            <a:avLst/>
          </a:prstGeom>
          <a:solidFill>
            <a:srgbClr val="161C3A"/>
          </a:solidFill>
          <a:ln>
            <a:solidFill>
              <a:srgbClr val="32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0E6"/>
                </a:solidFill>
                <a:latin typeface="Aptos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•  Multiple reference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81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•  Web/source database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648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•  Downloadable PDF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1538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•  Multilingual semantic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782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F"/>
                </a:solidFill>
                <a:latin typeface="Aptos"/>
              </a:rPr>
              <a:t>•  Advanced threshold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E57FF"/>
                </a:solidFill>
                <a:latin typeface="Aptos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60320"/>
            <a:ext cx="4069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7FF"/>
                </a:solidFill>
                <a:latin typeface="Aptos"/>
              </a:rPr>
              <a:t>The system identifies meaning-level similarity, highlights matching sections, and produces an interpretable plagiarism-risk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43400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3E0E6"/>
                </a:solidFill>
                <a:latin typeface="Aptos"/>
              </a:rPr>
              <a:t>Detect copied meaning,</a:t>
            </a:r>
            <a:br/>
            <a:r>
              <a:t>not just copied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172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EB8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